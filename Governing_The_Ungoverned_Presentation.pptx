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1371600"/>
            <a:ext cx="6858000" cy="2011680"/>
          </a:xfrm>
          <a:prstGeom prst="rect">
            <a:avLst/>
          </a:prstGeom>
          <a:noFill/>
        </p:spPr>
        <p:txBody>
          <a:bodyPr wrap="square">
            <a:spAutoFit/>
          </a:bodyPr>
          <a:lstStyle/>
          <a:p>
            <a:pPr>
              <a:defRPr sz="5400" b="1">
                <a:solidFill>
                  <a:srgbClr val="0EA5E9"/>
                </a:solidFill>
                <a:latin typeface="Outfit"/>
              </a:defRPr>
            </a:pPr>
            <a:r>
              <a:t>Governing The</a:t>
            </a:r>
            <a:br/>
            <a:r>
              <a:t>Ungoverned</a:t>
            </a:r>
          </a:p>
        </p:txBody>
      </p:sp>
      <p:sp>
        <p:nvSpPr>
          <p:cNvPr id="3" name="TextBox 2"/>
          <p:cNvSpPr txBox="1"/>
          <p:nvPr/>
        </p:nvSpPr>
        <p:spPr>
          <a:xfrm>
            <a:off x="685800" y="3474720"/>
            <a:ext cx="6858000" cy="1371600"/>
          </a:xfrm>
          <a:prstGeom prst="rect">
            <a:avLst/>
          </a:prstGeom>
          <a:noFill/>
        </p:spPr>
        <p:txBody>
          <a:bodyPr wrap="square">
            <a:spAutoFit/>
          </a:bodyPr>
          <a:lstStyle/>
          <a:p>
            <a:pPr>
              <a:defRPr sz="1600">
                <a:solidFill>
                  <a:srgbClr val="9CA3AF"/>
                </a:solidFill>
                <a:latin typeface="Plus Jakarta Sans"/>
              </a:defRPr>
            </a:pPr>
            <a:r>
              <a:t>Agentic AI Governance Frameworks For Construction And PPP Project Delivery in Emerging Economies — A Policy Readiness Assessment for Sub-Saharan Africa</a:t>
            </a:r>
          </a:p>
        </p:txBody>
      </p:sp>
      <p:sp>
        <p:nvSpPr>
          <p:cNvPr id="4" name="Rectangle 3"/>
          <p:cNvSpPr/>
          <p:nvPr/>
        </p:nvSpPr>
        <p:spPr>
          <a:xfrm>
            <a:off x="7772400" y="1371600"/>
            <a:ext cx="3730752" cy="411480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09560" y="1508760"/>
            <a:ext cx="3456432" cy="3840480"/>
          </a:xfrm>
          <a:prstGeom prst="rect">
            <a:avLst/>
          </a:prstGeom>
          <a:noFill/>
        </p:spPr>
        <p:txBody>
          <a:bodyPr wrap="square">
            <a:spAutoFit/>
          </a:bodyPr>
          <a:lstStyle/>
          <a:p/>
          <a:p>
            <a:pPr>
              <a:spcAft>
                <a:spcPts val="200"/>
              </a:spcAft>
              <a:defRPr sz="1100" b="1">
                <a:solidFill>
                  <a:srgbClr val="0EA5E9"/>
                </a:solidFill>
                <a:latin typeface="Outfit"/>
              </a:defRPr>
            </a:pPr>
            <a:r>
              <a:t>APPLICANT</a:t>
            </a:r>
          </a:p>
          <a:p>
            <a:pPr>
              <a:spcAft>
                <a:spcPts val="1600"/>
              </a:spcAft>
              <a:defRPr sz="1300">
                <a:solidFill>
                  <a:srgbClr val="F3F4F6"/>
                </a:solidFill>
                <a:latin typeface="Plus Jakarta Sans"/>
              </a:defRPr>
            </a:pPr>
            <a:r>
              <a:t>ARTHUR, Nsisongabasi Udoette</a:t>
            </a:r>
          </a:p>
          <a:p>
            <a:pPr>
              <a:spcAft>
                <a:spcPts val="200"/>
              </a:spcAft>
              <a:defRPr sz="1100" b="1">
                <a:solidFill>
                  <a:srgbClr val="0EA5E9"/>
                </a:solidFill>
                <a:latin typeface="Outfit"/>
              </a:defRPr>
            </a:pPr>
            <a:r>
              <a:t>TARGET INSTITUTION</a:t>
            </a:r>
          </a:p>
          <a:p>
            <a:pPr>
              <a:spcAft>
                <a:spcPts val="1600"/>
              </a:spcAft>
              <a:defRPr sz="1300">
                <a:solidFill>
                  <a:srgbClr val="F3F4F6"/>
                </a:solidFill>
                <a:latin typeface="Plus Jakarta Sans"/>
              </a:defRPr>
            </a:pPr>
            <a:r>
              <a:t>The Bartlett School of Sustainable Construction, UCL</a:t>
            </a:r>
          </a:p>
          <a:p>
            <a:pPr>
              <a:spcAft>
                <a:spcPts val="200"/>
              </a:spcAft>
              <a:defRPr sz="1100" b="1">
                <a:solidFill>
                  <a:srgbClr val="0EA5E9"/>
                </a:solidFill>
                <a:latin typeface="Outfit"/>
              </a:defRPr>
            </a:pPr>
            <a:r>
              <a:t>PROPOSED ENTRY</a:t>
            </a:r>
          </a:p>
          <a:p>
            <a:pPr>
              <a:spcAft>
                <a:spcPts val="1600"/>
              </a:spcAft>
              <a:defRPr sz="1300">
                <a:solidFill>
                  <a:srgbClr val="F3F4F6"/>
                </a:solidFill>
                <a:latin typeface="Plus Jakarta Sans"/>
              </a:defRPr>
            </a:pPr>
            <a:r>
              <a:t>MPhil/PhD Full-Time (September 2026)</a:t>
            </a:r>
          </a:p>
          <a:p>
            <a:pPr>
              <a:spcAft>
                <a:spcPts val="200"/>
              </a:spcAft>
              <a:defRPr sz="1100" b="1">
                <a:solidFill>
                  <a:srgbClr val="0EA5E9"/>
                </a:solidFill>
                <a:latin typeface="Outfit"/>
              </a:defRPr>
            </a:pPr>
            <a:r>
              <a:t>PROFESSIONAL BACKGROUND</a:t>
            </a:r>
          </a:p>
          <a:p>
            <a:pPr>
              <a:spcAft>
                <a:spcPts val="1600"/>
              </a:spcAft>
              <a:defRPr sz="1300">
                <a:solidFill>
                  <a:srgbClr val="F3F4F6"/>
                </a:solidFill>
                <a:latin typeface="Plus Jakarta Sans"/>
              </a:defRPr>
            </a:pPr>
            <a:r>
              <a:t>12 years EPC Contracting ($100M+) &amp; PPP Advising</a:t>
            </a:r>
          </a:p>
        </p:txBody>
      </p:sp>
      <p:sp>
        <p:nvSpPr>
          <p:cNvPr id="6" name="TextBox 5"/>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1 of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The Paradigm Shift</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Transitioning from predictive AI outputs to agentic AI autonomy</a:t>
            </a:r>
          </a:p>
        </p:txBody>
      </p:sp>
      <p:sp>
        <p:nvSpPr>
          <p:cNvPr id="4" name="Rectangle 3"/>
          <p:cNvSpPr/>
          <p:nvPr/>
        </p:nvSpPr>
        <p:spPr>
          <a:xfrm>
            <a:off x="685800" y="1645920"/>
            <a:ext cx="5120640" cy="411480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4846320" cy="3840480"/>
          </a:xfrm>
          <a:prstGeom prst="rect">
            <a:avLst/>
          </a:prstGeom>
          <a:noFill/>
        </p:spPr>
        <p:txBody>
          <a:bodyPr wrap="square">
            <a:spAutoFit/>
          </a:bodyPr>
          <a:lstStyle/>
          <a:p>
            <a:pPr>
              <a:spcAft>
                <a:spcPts val="1400"/>
              </a:spcAft>
              <a:defRPr sz="2200" b="1">
                <a:solidFill>
                  <a:srgbClr val="9CA3AF"/>
                </a:solidFill>
                <a:latin typeface="Outfit"/>
              </a:defRPr>
            </a:pPr>
            <a:r>
              <a:t>Predictive AI (Standard)</a:t>
            </a:r>
          </a:p>
          <a:p>
            <a:pPr>
              <a:spcAft>
                <a:spcPts val="1000"/>
              </a:spcAft>
              <a:defRPr sz="1400">
                <a:solidFill>
                  <a:srgbClr val="9CA3AF"/>
                </a:solidFill>
                <a:latin typeface="Plus Jakarta Sans"/>
              </a:defRPr>
            </a:pPr>
            <a:r>
              <a:t>• Generates project forecasts (e.g., cost/schedule delays)</a:t>
            </a:r>
          </a:p>
          <a:p>
            <a:pPr>
              <a:spcAft>
                <a:spcPts val="1000"/>
              </a:spcAft>
              <a:defRPr sz="1400">
                <a:solidFill>
                  <a:srgbClr val="9CA3AF"/>
                </a:solidFill>
                <a:latin typeface="Plus Jakarta Sans"/>
              </a:defRPr>
            </a:pPr>
            <a:r>
              <a:t>• Identifies hazards on site using computer vision</a:t>
            </a:r>
          </a:p>
          <a:p>
            <a:pPr>
              <a:spcAft>
                <a:spcPts val="1000"/>
              </a:spcAft>
              <a:defRPr sz="1400">
                <a:solidFill>
                  <a:srgbClr val="9CA3AF"/>
                </a:solidFill>
                <a:latin typeface="Plus Jakarta Sans"/>
              </a:defRPr>
            </a:pPr>
            <a:r>
              <a:t>• Advisory logic: human decision-maker remains in-the-loop</a:t>
            </a:r>
          </a:p>
          <a:p>
            <a:pPr>
              <a:spcAft>
                <a:spcPts val="1000"/>
              </a:spcAft>
              <a:defRPr sz="1400">
                <a:solidFill>
                  <a:srgbClr val="9CA3AF"/>
                </a:solidFill>
                <a:latin typeface="Plus Jakarta Sans"/>
              </a:defRPr>
            </a:pPr>
            <a:r>
              <a:t>• Assumes a human reviews, validates, and triggers all actions</a:t>
            </a:r>
          </a:p>
        </p:txBody>
      </p:sp>
      <p:sp>
        <p:nvSpPr>
          <p:cNvPr id="6" name="Rectangle 5"/>
          <p:cNvSpPr/>
          <p:nvPr/>
        </p:nvSpPr>
        <p:spPr>
          <a:xfrm>
            <a:off x="6382512" y="1645920"/>
            <a:ext cx="5120640" cy="4114800"/>
          </a:xfrm>
          <a:prstGeom prst="rect">
            <a:avLst/>
          </a:prstGeom>
          <a:solidFill>
            <a:srgbClr val="181C2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783080"/>
            <a:ext cx="4846320" cy="3840480"/>
          </a:xfrm>
          <a:prstGeom prst="rect">
            <a:avLst/>
          </a:prstGeom>
          <a:noFill/>
        </p:spPr>
        <p:txBody>
          <a:bodyPr wrap="square">
            <a:spAutoFit/>
          </a:bodyPr>
          <a:lstStyle/>
          <a:p>
            <a:pPr>
              <a:spcAft>
                <a:spcPts val="1400"/>
              </a:spcAft>
              <a:defRPr sz="2200" b="1">
                <a:solidFill>
                  <a:srgbClr val="10B981"/>
                </a:solidFill>
                <a:latin typeface="Outfit"/>
              </a:defRPr>
            </a:pPr>
            <a:r>
              <a:t>Agentic AI (The Frontier)</a:t>
            </a:r>
          </a:p>
          <a:p>
            <a:pPr>
              <a:spcAft>
                <a:spcPts val="1000"/>
              </a:spcAft>
              <a:defRPr sz="1400">
                <a:solidFill>
                  <a:srgbClr val="F3F4F6"/>
                </a:solidFill>
                <a:latin typeface="Plus Jakarta Sans"/>
              </a:defRPr>
            </a:pPr>
            <a:r>
              <a:t>• Autonomously plans and executes multi-step workflows</a:t>
            </a:r>
          </a:p>
          <a:p>
            <a:pPr>
              <a:spcAft>
                <a:spcPts val="1000"/>
              </a:spcAft>
              <a:defRPr sz="1400">
                <a:solidFill>
                  <a:srgbClr val="F3F4F6"/>
                </a:solidFill>
                <a:latin typeface="Plus Jakarta Sans"/>
              </a:defRPr>
            </a:pPr>
            <a:r>
              <a:t>• Interacts directly with BIM and robot-ready site digital twins</a:t>
            </a:r>
          </a:p>
          <a:p>
            <a:pPr>
              <a:spcAft>
                <a:spcPts val="1000"/>
              </a:spcAft>
              <a:defRPr sz="1400">
                <a:solidFill>
                  <a:srgbClr val="F3F4F6"/>
                </a:solidFill>
                <a:latin typeface="Plus Jakarta Sans"/>
              </a:defRPr>
            </a:pPr>
            <a:r>
              <a:t>• Alters schedules, coordinates supplier APIs, and issues queries</a:t>
            </a:r>
          </a:p>
          <a:p>
            <a:pPr>
              <a:spcAft>
                <a:spcPts val="1000"/>
              </a:spcAft>
              <a:defRPr sz="1400">
                <a:solidFill>
                  <a:srgbClr val="F3F4F6"/>
                </a:solidFill>
                <a:latin typeface="Plus Jakarta Sans"/>
              </a:defRPr>
            </a:pPr>
            <a:r>
              <a:t>• Operates human-on-the-loop: system executes decisions directly</a:t>
            </a:r>
          </a:p>
        </p:txBody>
      </p:sp>
      <p:sp>
        <p:nvSpPr>
          <p:cNvPr id="8" name="TextBox 7"/>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2 of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Mismatched Institutional Assumptions</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Why global AI regulations are not fit for purpose in emerging economies</a:t>
            </a:r>
          </a:p>
        </p:txBody>
      </p:sp>
      <p:sp>
        <p:nvSpPr>
          <p:cNvPr id="4" name="Rectangle 3"/>
          <p:cNvSpPr/>
          <p:nvPr/>
        </p:nvSpPr>
        <p:spPr>
          <a:xfrm>
            <a:off x="685800" y="1645920"/>
            <a:ext cx="4114800" cy="411480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3840480" cy="3840480"/>
          </a:xfrm>
          <a:prstGeom prst="rect">
            <a:avLst/>
          </a:prstGeom>
          <a:noFill/>
        </p:spPr>
        <p:txBody>
          <a:bodyPr wrap="square">
            <a:spAutoFit/>
          </a:bodyPr>
          <a:lstStyle/>
          <a:p>
            <a:pPr>
              <a:spcAft>
                <a:spcPts val="1400"/>
              </a:spcAft>
              <a:defRPr sz="2000" b="1">
                <a:solidFill>
                  <a:srgbClr val="0EA5E9"/>
                </a:solidFill>
                <a:latin typeface="Outfit"/>
              </a:defRPr>
            </a:pPr>
            <a:r>
              <a:t>Global Assumptions</a:t>
            </a:r>
          </a:p>
          <a:p>
            <a:pPr>
              <a:spcAft>
                <a:spcPts val="1000"/>
              </a:spcAft>
              <a:defRPr sz="1300">
                <a:solidFill>
                  <a:srgbClr val="9CA3AF"/>
                </a:solidFill>
                <a:latin typeface="Plus Jakarta Sans"/>
              </a:defRPr>
            </a:pPr>
            <a:r>
              <a:t>✓  Conformity assessments and regular audits (EU AI Act)</a:t>
            </a:r>
          </a:p>
          <a:p>
            <a:pPr>
              <a:spcAft>
                <a:spcPts val="1000"/>
              </a:spcAft>
              <a:defRPr sz="1300">
                <a:solidFill>
                  <a:srgbClr val="9CA3AF"/>
                </a:solidFill>
                <a:latin typeface="Plus Jakarta Sans"/>
              </a:defRPr>
            </a:pPr>
            <a:r>
              <a:t>✓  Enforceable civil liability regimes for algorithmic damage</a:t>
            </a:r>
          </a:p>
          <a:p>
            <a:pPr>
              <a:spcAft>
                <a:spcPts val="1000"/>
              </a:spcAft>
              <a:defRPr sz="1300">
                <a:solidFill>
                  <a:srgbClr val="9CA3AF"/>
                </a:solidFill>
                <a:latin typeface="Plus Jakarta Sans"/>
              </a:defRPr>
            </a:pPr>
            <a:r>
              <a:t>✓  Functional regulatory registries &amp; databases</a:t>
            </a:r>
          </a:p>
          <a:p>
            <a:pPr>
              <a:spcAft>
                <a:spcPts val="1000"/>
              </a:spcAft>
              <a:defRPr sz="1300">
                <a:solidFill>
                  <a:srgbClr val="9CA3AF"/>
                </a:solidFill>
                <a:latin typeface="Plus Jakarta Sans"/>
              </a:defRPr>
            </a:pPr>
            <a:r>
              <a:t>✓  Highly integrated data-sharing infrastructure</a:t>
            </a:r>
          </a:p>
        </p:txBody>
      </p:sp>
      <p:sp>
        <p:nvSpPr>
          <p:cNvPr id="6" name="Rectangle 5"/>
          <p:cNvSpPr/>
          <p:nvPr/>
        </p:nvSpPr>
        <p:spPr>
          <a:xfrm>
            <a:off x="5166360" y="2926080"/>
            <a:ext cx="1828800" cy="1645920"/>
          </a:xfrm>
          <a:prstGeom prst="rect">
            <a:avLst/>
          </a:prstGeom>
          <a:solidFill>
            <a:srgbClr val="181C2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3017520"/>
            <a:ext cx="1645920" cy="1463040"/>
          </a:xfrm>
          <a:prstGeom prst="rect">
            <a:avLst/>
          </a:prstGeom>
          <a:noFill/>
        </p:spPr>
        <p:txBody>
          <a:bodyPr wrap="square">
            <a:spAutoFit/>
          </a:bodyPr>
          <a:lstStyle/>
          <a:p>
            <a:pPr algn="ctr">
              <a:defRPr sz="2000" b="1">
                <a:solidFill>
                  <a:srgbClr val="EF4444"/>
                </a:solidFill>
                <a:latin typeface="Outfit"/>
              </a:defRPr>
            </a:pPr>
            <a:r>
              <a:t>!</a:t>
            </a:r>
            <a:br/>
            <a:r>
              <a:t>MISMATCH</a:t>
            </a:r>
          </a:p>
        </p:txBody>
      </p:sp>
      <p:sp>
        <p:nvSpPr>
          <p:cNvPr id="8" name="Rectangle 7"/>
          <p:cNvSpPr/>
          <p:nvPr/>
        </p:nvSpPr>
        <p:spPr>
          <a:xfrm>
            <a:off x="7388352" y="1645920"/>
            <a:ext cx="4114800" cy="411480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25512" y="1783080"/>
            <a:ext cx="3840480" cy="3840480"/>
          </a:xfrm>
          <a:prstGeom prst="rect">
            <a:avLst/>
          </a:prstGeom>
          <a:noFill/>
        </p:spPr>
        <p:txBody>
          <a:bodyPr wrap="square">
            <a:spAutoFit/>
          </a:bodyPr>
          <a:lstStyle/>
          <a:p>
            <a:pPr>
              <a:spcAft>
                <a:spcPts val="1400"/>
              </a:spcAft>
              <a:defRPr sz="2000" b="1">
                <a:solidFill>
                  <a:srgbClr val="F59E0B"/>
                </a:solidFill>
                <a:latin typeface="Outfit"/>
              </a:defRPr>
            </a:pPr>
            <a:r>
              <a:t>Sub-Saharan Realities</a:t>
            </a:r>
          </a:p>
          <a:p>
            <a:pPr>
              <a:spcAft>
                <a:spcPts val="1000"/>
              </a:spcAft>
              <a:defRPr sz="1300">
                <a:solidFill>
                  <a:srgbClr val="F3F4F6"/>
                </a:solidFill>
                <a:latin typeface="Plus Jakarta Sans"/>
              </a:defRPr>
            </a:pPr>
            <a:r>
              <a:t>✗  Systematic regulatory enforcement and resource gaps</a:t>
            </a:r>
          </a:p>
          <a:p>
            <a:pPr>
              <a:spcAft>
                <a:spcPts val="1000"/>
              </a:spcAft>
              <a:defRPr sz="1300">
                <a:solidFill>
                  <a:srgbClr val="F3F4F6"/>
                </a:solidFill>
                <a:latin typeface="Plus Jakarta Sans"/>
              </a:defRPr>
            </a:pPr>
            <a:r>
              <a:t>✗  Unclear legal agency for AI models under local contract law</a:t>
            </a:r>
          </a:p>
          <a:p>
            <a:pPr>
              <a:spcAft>
                <a:spcPts val="1000"/>
              </a:spcAft>
              <a:defRPr sz="1300">
                <a:solidFill>
                  <a:srgbClr val="F3F4F6"/>
                </a:solidFill>
                <a:latin typeface="Plus Jakarta Sans"/>
              </a:defRPr>
            </a:pPr>
            <a:r>
              <a:t>✗  Highly fragmented digital project workflows &amp; registries</a:t>
            </a:r>
          </a:p>
          <a:p>
            <a:pPr>
              <a:spcAft>
                <a:spcPts val="1000"/>
              </a:spcAft>
              <a:defRPr sz="1300">
                <a:solidFill>
                  <a:srgbClr val="F3F4F6"/>
                </a:solidFill>
                <a:latin typeface="Plus Jakarta Sans"/>
              </a:defRPr>
            </a:pPr>
            <a:r>
              <a:t>✗  Weak contract enforcement &amp; long judicial backlogs</a:t>
            </a:r>
          </a:p>
        </p:txBody>
      </p:sp>
      <p:sp>
        <p:nvSpPr>
          <p:cNvPr id="10" name="TextBox 9"/>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3 of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Research Question &amp; Objectives</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Structuring the core academic vector of the study</a:t>
            </a:r>
          </a:p>
        </p:txBody>
      </p:sp>
      <p:sp>
        <p:nvSpPr>
          <p:cNvPr id="4" name="Rectangle 3"/>
          <p:cNvSpPr/>
          <p:nvPr/>
        </p:nvSpPr>
        <p:spPr>
          <a:xfrm>
            <a:off x="685800" y="1645920"/>
            <a:ext cx="10820095" cy="1645920"/>
          </a:xfrm>
          <a:prstGeom prst="rect">
            <a:avLst/>
          </a:prstGeom>
          <a:solidFill>
            <a:srgbClr val="181C24"/>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545775" cy="1371600"/>
          </a:xfrm>
          <a:prstGeom prst="rect">
            <a:avLst/>
          </a:prstGeom>
          <a:noFill/>
        </p:spPr>
        <p:txBody>
          <a:bodyPr wrap="square">
            <a:spAutoFit/>
          </a:bodyPr>
          <a:lstStyle/>
          <a:p>
            <a:pPr algn="ctr">
              <a:defRPr sz="1600" b="1">
                <a:solidFill>
                  <a:srgbClr val="F3F4F6"/>
                </a:solidFill>
                <a:latin typeface="Outfit"/>
              </a:defRPr>
            </a:pPr>
            <a:r>
              <a:t>PRIMARY RESEARCH QUESTION:</a:t>
            </a:r>
            <a:br/>
            <a:r>
              <a:t>"To what extent are existing frameworks for agentic AI governance fit for purpose in construction and PPP project delivery in Sub-Saharan African institutional contexts, and what policy, regulatory, contractual, and technical reforms are required to enable responsible agentic AI deployment in the sector?"</a:t>
            </a:r>
          </a:p>
        </p:txBody>
      </p:sp>
      <p:sp>
        <p:nvSpPr>
          <p:cNvPr id="6" name="Rectangle 5"/>
          <p:cNvSpPr/>
          <p:nvPr/>
        </p:nvSpPr>
        <p:spPr>
          <a:xfrm>
            <a:off x="685800" y="3566160"/>
            <a:ext cx="3419856" cy="237744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703320"/>
            <a:ext cx="3145536" cy="2103120"/>
          </a:xfrm>
          <a:prstGeom prst="rect">
            <a:avLst/>
          </a:prstGeom>
          <a:noFill/>
        </p:spPr>
        <p:txBody>
          <a:bodyPr wrap="square">
            <a:spAutoFit/>
          </a:bodyPr>
          <a:lstStyle/>
          <a:p>
            <a:pPr>
              <a:spcAft>
                <a:spcPts val="200"/>
              </a:spcAft>
              <a:defRPr sz="2400" b="1">
                <a:solidFill>
                  <a:srgbClr val="0EA5E9"/>
                </a:solidFill>
                <a:latin typeface="Outfit"/>
              </a:defRPr>
            </a:pPr>
            <a:r>
              <a:t>01</a:t>
            </a:r>
          </a:p>
          <a:p>
            <a:pPr>
              <a:spcAft>
                <a:spcPts val="800"/>
              </a:spcAft>
              <a:defRPr sz="1600" b="1">
                <a:solidFill>
                  <a:srgbClr val="F3F4F6"/>
                </a:solidFill>
                <a:latin typeface="Outfit"/>
              </a:defRPr>
            </a:pPr>
            <a:r>
              <a:t>Critique Assumptions</a:t>
            </a:r>
          </a:p>
          <a:p>
            <a:pPr>
              <a:defRPr sz="1200">
                <a:solidFill>
                  <a:srgbClr val="9CA3AF"/>
                </a:solidFill>
                <a:latin typeface="Plus Jakarta Sans"/>
              </a:defRPr>
            </a:pPr>
            <a:r>
              <a:t>Evaluate the institutional assumptions embedded in global AI governance frameworks (EU Act, NIST) against local constraints.</a:t>
            </a:r>
          </a:p>
        </p:txBody>
      </p:sp>
      <p:sp>
        <p:nvSpPr>
          <p:cNvPr id="8" name="Rectangle 7"/>
          <p:cNvSpPr/>
          <p:nvPr/>
        </p:nvSpPr>
        <p:spPr>
          <a:xfrm>
            <a:off x="4379976" y="3566160"/>
            <a:ext cx="3419856" cy="237744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3703320"/>
            <a:ext cx="3145536" cy="2103120"/>
          </a:xfrm>
          <a:prstGeom prst="rect">
            <a:avLst/>
          </a:prstGeom>
          <a:noFill/>
        </p:spPr>
        <p:txBody>
          <a:bodyPr wrap="square">
            <a:spAutoFit/>
          </a:bodyPr>
          <a:lstStyle/>
          <a:p>
            <a:pPr>
              <a:spcAft>
                <a:spcPts val="200"/>
              </a:spcAft>
              <a:defRPr sz="2400" b="1">
                <a:solidFill>
                  <a:srgbClr val="0EA5E9"/>
                </a:solidFill>
                <a:latin typeface="Outfit"/>
              </a:defRPr>
            </a:pPr>
            <a:r>
              <a:t>02</a:t>
            </a:r>
          </a:p>
          <a:p>
            <a:pPr>
              <a:spcAft>
                <a:spcPts val="800"/>
              </a:spcAft>
              <a:defRPr sz="1600" b="1">
                <a:solidFill>
                  <a:srgbClr val="F3F4F6"/>
                </a:solidFill>
                <a:latin typeface="Outfit"/>
              </a:defRPr>
            </a:pPr>
            <a:r>
              <a:t>Assess Policy</a:t>
            </a:r>
          </a:p>
          <a:p>
            <a:pPr>
              <a:defRPr sz="1200">
                <a:solidFill>
                  <a:srgbClr val="9CA3AF"/>
                </a:solidFill>
                <a:latin typeface="Plus Jakarta Sans"/>
              </a:defRPr>
            </a:pPr>
            <a:r>
              <a:t>Analyze policy, regulatory, and organizational AI readiness across four representative Sub-Saharan African countries.</a:t>
            </a:r>
          </a:p>
        </p:txBody>
      </p:sp>
      <p:sp>
        <p:nvSpPr>
          <p:cNvPr id="10" name="Rectangle 9"/>
          <p:cNvSpPr/>
          <p:nvPr/>
        </p:nvSpPr>
        <p:spPr>
          <a:xfrm>
            <a:off x="8074152" y="3566160"/>
            <a:ext cx="3419856" cy="237744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3703320"/>
            <a:ext cx="3145536" cy="2103120"/>
          </a:xfrm>
          <a:prstGeom prst="rect">
            <a:avLst/>
          </a:prstGeom>
          <a:noFill/>
        </p:spPr>
        <p:txBody>
          <a:bodyPr wrap="square">
            <a:spAutoFit/>
          </a:bodyPr>
          <a:lstStyle/>
          <a:p>
            <a:pPr>
              <a:spcAft>
                <a:spcPts val="200"/>
              </a:spcAft>
              <a:defRPr sz="2400" b="1">
                <a:solidFill>
                  <a:srgbClr val="0EA5E9"/>
                </a:solidFill>
                <a:latin typeface="Outfit"/>
              </a:defRPr>
            </a:pPr>
            <a:r>
              <a:t>03</a:t>
            </a:r>
          </a:p>
          <a:p>
            <a:pPr>
              <a:spcAft>
                <a:spcPts val="800"/>
              </a:spcAft>
              <a:defRPr sz="1600" b="1">
                <a:solidFill>
                  <a:srgbClr val="F3F4F6"/>
                </a:solidFill>
                <a:latin typeface="Outfit"/>
              </a:defRPr>
            </a:pPr>
            <a:r>
              <a:t>Co-Design GRF</a:t>
            </a:r>
          </a:p>
          <a:p>
            <a:pPr>
              <a:defRPr sz="1200">
                <a:solidFill>
                  <a:srgbClr val="9CA3AF"/>
                </a:solidFill>
                <a:latin typeface="Plus Jakarta Sans"/>
              </a:defRPr>
            </a:pPr>
            <a:r>
              <a:t>Develop and validate a contextualized Governance Readiness Framework (GRF) tailored for construction &amp; PPP project delivery.</a:t>
            </a:r>
          </a:p>
        </p:txBody>
      </p:sp>
      <p:sp>
        <p:nvSpPr>
          <p:cNvPr id="12" name="TextBox 11"/>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4 of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Identified Literature Gaps</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Establishing the core academic boundaries of the research</a:t>
            </a:r>
          </a:p>
        </p:txBody>
      </p:sp>
      <p:sp>
        <p:nvSpPr>
          <p:cNvPr id="4" name="Rectangle 3"/>
          <p:cNvSpPr/>
          <p:nvPr/>
        </p:nvSpPr>
        <p:spPr>
          <a:xfrm>
            <a:off x="685800" y="1645920"/>
            <a:ext cx="10820095" cy="128016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2560320" cy="1005840"/>
          </a:xfrm>
          <a:prstGeom prst="rect">
            <a:avLst/>
          </a:prstGeom>
          <a:noFill/>
        </p:spPr>
        <p:txBody>
          <a:bodyPr wrap="square">
            <a:spAutoFit/>
          </a:bodyPr>
          <a:lstStyle/>
          <a:p>
            <a:pPr>
              <a:spcAft>
                <a:spcPts val="200"/>
              </a:spcAft>
              <a:defRPr sz="1400" b="1">
                <a:solidFill>
                  <a:srgbClr val="0EA5E9"/>
                </a:solidFill>
                <a:latin typeface="Outfit"/>
              </a:defRPr>
            </a:pPr>
            <a:r>
              <a:t>GAP 1: THEMATIC GAP</a:t>
            </a:r>
          </a:p>
          <a:p>
            <a:pPr>
              <a:defRPr sz="1100" b="1">
                <a:solidFill>
                  <a:srgbClr val="F3F4F6"/>
                </a:solidFill>
                <a:latin typeface="Plus Jakarta Sans"/>
              </a:defRPr>
            </a:pPr>
            <a:r>
              <a:t>No Governance Framework for Agentic AI in Construction or PPPs</a:t>
            </a:r>
          </a:p>
        </p:txBody>
      </p:sp>
      <p:sp>
        <p:nvSpPr>
          <p:cNvPr id="6" name="TextBox 5"/>
          <p:cNvSpPr txBox="1"/>
          <p:nvPr/>
        </p:nvSpPr>
        <p:spPr>
          <a:xfrm>
            <a:off x="3474720" y="1783080"/>
            <a:ext cx="7772400" cy="1005840"/>
          </a:xfrm>
          <a:prstGeom prst="rect">
            <a:avLst/>
          </a:prstGeom>
          <a:noFill/>
        </p:spPr>
        <p:txBody>
          <a:bodyPr wrap="square">
            <a:spAutoFit/>
          </a:bodyPr>
          <a:lstStyle/>
          <a:p>
            <a:pPr>
              <a:defRPr sz="1200">
                <a:solidFill>
                  <a:srgbClr val="9CA3AF"/>
                </a:solidFill>
                <a:latin typeface="Plus Jakarta Sans"/>
              </a:defRPr>
            </a:pPr>
            <a:r>
              <a:t>A March 2026 systematic review of 392 Scopus publications confirmed that governance, policy readiness, and accountability are the single most critical unstudied dimensions of AI in construction. No published study addresses governance frameworks for agentic systems in project delivery.</a:t>
            </a:r>
          </a:p>
        </p:txBody>
      </p:sp>
      <p:sp>
        <p:nvSpPr>
          <p:cNvPr id="7" name="Rectangle 6"/>
          <p:cNvSpPr/>
          <p:nvPr/>
        </p:nvSpPr>
        <p:spPr>
          <a:xfrm>
            <a:off x="685800" y="3108960"/>
            <a:ext cx="10820095" cy="128016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246120"/>
            <a:ext cx="2560320" cy="1005840"/>
          </a:xfrm>
          <a:prstGeom prst="rect">
            <a:avLst/>
          </a:prstGeom>
          <a:noFill/>
        </p:spPr>
        <p:txBody>
          <a:bodyPr wrap="square">
            <a:spAutoFit/>
          </a:bodyPr>
          <a:lstStyle/>
          <a:p>
            <a:pPr>
              <a:spcAft>
                <a:spcPts val="200"/>
              </a:spcAft>
              <a:defRPr sz="1400" b="1">
                <a:solidFill>
                  <a:srgbClr val="0EA5E9"/>
                </a:solidFill>
                <a:latin typeface="Outfit"/>
              </a:defRPr>
            </a:pPr>
            <a:r>
              <a:t>GAP 2: REGIONAL GAP</a:t>
            </a:r>
          </a:p>
          <a:p>
            <a:pPr>
              <a:defRPr sz="1100" b="1">
                <a:solidFill>
                  <a:srgbClr val="F3F4F6"/>
                </a:solidFill>
                <a:latin typeface="Plus Jakarta Sans"/>
              </a:defRPr>
            </a:pPr>
            <a:r>
              <a:t>Sub-Saharan Africa is Critically Underrepresented in Literature</a:t>
            </a:r>
          </a:p>
        </p:txBody>
      </p:sp>
      <p:sp>
        <p:nvSpPr>
          <p:cNvPr id="9" name="TextBox 8"/>
          <p:cNvSpPr txBox="1"/>
          <p:nvPr/>
        </p:nvSpPr>
        <p:spPr>
          <a:xfrm>
            <a:off x="3474720" y="3246120"/>
            <a:ext cx="7772400" cy="1005840"/>
          </a:xfrm>
          <a:prstGeom prst="rect">
            <a:avLst/>
          </a:prstGeom>
          <a:noFill/>
        </p:spPr>
        <p:txBody>
          <a:bodyPr wrap="square">
            <a:spAutoFit/>
          </a:bodyPr>
          <a:lstStyle/>
          <a:p>
            <a:pPr>
              <a:defRPr sz="1200">
                <a:solidFill>
                  <a:srgbClr val="9CA3AF"/>
                </a:solidFill>
                <a:latin typeface="Plus Jakarta Sans"/>
              </a:defRPr>
            </a:pPr>
            <a:r>
              <a:t>A 70-year scientometric review (1954-2026) of 9,748 publications in the International Journal of Construction Management confirmed Sub-Saharan Africa as one of the least studied geographical contexts globally. The regional gap compounds the thematic gap.</a:t>
            </a:r>
          </a:p>
        </p:txBody>
      </p:sp>
      <p:sp>
        <p:nvSpPr>
          <p:cNvPr id="10" name="Rectangle 9"/>
          <p:cNvSpPr/>
          <p:nvPr/>
        </p:nvSpPr>
        <p:spPr>
          <a:xfrm>
            <a:off x="685800" y="4572000"/>
            <a:ext cx="10820095" cy="128016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709160"/>
            <a:ext cx="2560320" cy="1005840"/>
          </a:xfrm>
          <a:prstGeom prst="rect">
            <a:avLst/>
          </a:prstGeom>
          <a:noFill/>
        </p:spPr>
        <p:txBody>
          <a:bodyPr wrap="square">
            <a:spAutoFit/>
          </a:bodyPr>
          <a:lstStyle/>
          <a:p>
            <a:pPr>
              <a:spcAft>
                <a:spcPts val="200"/>
              </a:spcAft>
              <a:defRPr sz="1400" b="1">
                <a:solidFill>
                  <a:srgbClr val="0EA5E9"/>
                </a:solidFill>
                <a:latin typeface="Outfit"/>
              </a:defRPr>
            </a:pPr>
            <a:r>
              <a:t>GAP 3: THEORETICAL GAP</a:t>
            </a:r>
          </a:p>
          <a:p>
            <a:pPr>
              <a:defRPr sz="1100" b="1">
                <a:solidFill>
                  <a:srgbClr val="F3F4F6"/>
                </a:solidFill>
                <a:latin typeface="Plus Jakarta Sans"/>
              </a:defRPr>
            </a:pPr>
            <a:r>
              <a:t>The Institutional Alignment Framework (IAF) is Untested</a:t>
            </a:r>
          </a:p>
        </p:txBody>
      </p:sp>
      <p:sp>
        <p:nvSpPr>
          <p:cNvPr id="12" name="TextBox 11"/>
          <p:cNvSpPr txBox="1"/>
          <p:nvPr/>
        </p:nvSpPr>
        <p:spPr>
          <a:xfrm>
            <a:off x="3474720" y="4709160"/>
            <a:ext cx="7772400" cy="1005840"/>
          </a:xfrm>
          <a:prstGeom prst="rect">
            <a:avLst/>
          </a:prstGeom>
          <a:noFill/>
        </p:spPr>
        <p:txBody>
          <a:bodyPr wrap="square">
            <a:spAutoFit/>
          </a:bodyPr>
          <a:lstStyle/>
          <a:p>
            <a:pPr>
              <a:defRPr sz="1200">
                <a:solidFill>
                  <a:srgbClr val="9CA3AF"/>
                </a:solidFill>
                <a:latin typeface="Plus Jakarta Sans"/>
              </a:defRPr>
            </a:pPr>
            <a:r>
              <a:t>The IAF exists as a practitioner-derived theoretical proposition to explain governance failures in PPPs. However, it has not been empirically tested or validated across multiple country cases in construction management research.</a:t>
            </a:r>
          </a:p>
        </p:txBody>
      </p:sp>
      <p:sp>
        <p:nvSpPr>
          <p:cNvPr id="13" name="TextBox 12"/>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5 of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Theoretical Framework</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Socio-Technical and Institutional structures underpinning the IAF</a:t>
            </a:r>
          </a:p>
        </p:txBody>
      </p:sp>
      <p:sp>
        <p:nvSpPr>
          <p:cNvPr id="4" name="Rectangle 3"/>
          <p:cNvSpPr/>
          <p:nvPr/>
        </p:nvSpPr>
        <p:spPr>
          <a:xfrm>
            <a:off x="685800" y="1645920"/>
            <a:ext cx="3419856" cy="429768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3145536" cy="4023360"/>
          </a:xfrm>
          <a:prstGeom prst="rect">
            <a:avLst/>
          </a:prstGeom>
          <a:noFill/>
        </p:spPr>
        <p:txBody>
          <a:bodyPr wrap="square">
            <a:spAutoFit/>
          </a:bodyPr>
          <a:lstStyle/>
          <a:p>
            <a:pPr>
              <a:spcAft>
                <a:spcPts val="200"/>
              </a:spcAft>
              <a:defRPr sz="1200" b="1">
                <a:solidFill>
                  <a:srgbClr val="0EA5E9"/>
                </a:solidFill>
                <a:latin typeface="Outfit"/>
              </a:defRPr>
            </a:pPr>
            <a:r>
              <a:t>PILLAR 1</a:t>
            </a:r>
          </a:p>
          <a:p>
            <a:pPr>
              <a:spcAft>
                <a:spcPts val="1200"/>
              </a:spcAft>
              <a:defRPr sz="1600" b="1">
                <a:solidFill>
                  <a:srgbClr val="F3F4F6"/>
                </a:solidFill>
                <a:latin typeface="Outfit"/>
              </a:defRPr>
            </a:pPr>
            <a:r>
              <a:t>Institutional Theory</a:t>
            </a:r>
            <a:br/>
            <a:r>
              <a:t>(North, 1990)</a:t>
            </a:r>
          </a:p>
          <a:p>
            <a:pPr>
              <a:spcAft>
                <a:spcPts val="800"/>
              </a:spcAft>
              <a:defRPr sz="1300">
                <a:solidFill>
                  <a:srgbClr val="9CA3AF"/>
                </a:solidFill>
                <a:latin typeface="Plus Jakarta Sans"/>
              </a:defRPr>
            </a:pPr>
            <a:r>
              <a:t>Institutions are the formal (constitutions, laws, contracts) and informal (norms, customs) 'rules of the game'. North's model explains how the same AI governance framework will produce wildly different outcomes based on national enforcement characteristics.</a:t>
            </a:r>
          </a:p>
        </p:txBody>
      </p:sp>
      <p:sp>
        <p:nvSpPr>
          <p:cNvPr id="6" name="Rectangle 5"/>
          <p:cNvSpPr/>
          <p:nvPr/>
        </p:nvSpPr>
        <p:spPr>
          <a:xfrm>
            <a:off x="4379976" y="1645920"/>
            <a:ext cx="3419856" cy="429768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7136" y="1783080"/>
            <a:ext cx="3145536" cy="4023360"/>
          </a:xfrm>
          <a:prstGeom prst="rect">
            <a:avLst/>
          </a:prstGeom>
          <a:noFill/>
        </p:spPr>
        <p:txBody>
          <a:bodyPr wrap="square">
            <a:spAutoFit/>
          </a:bodyPr>
          <a:lstStyle/>
          <a:p>
            <a:pPr>
              <a:spcAft>
                <a:spcPts val="200"/>
              </a:spcAft>
              <a:defRPr sz="1200" b="1">
                <a:solidFill>
                  <a:srgbClr val="0EA5E9"/>
                </a:solidFill>
                <a:latin typeface="Outfit"/>
              </a:defRPr>
            </a:pPr>
            <a:r>
              <a:t>PILLAR 2</a:t>
            </a:r>
          </a:p>
          <a:p>
            <a:pPr>
              <a:spcAft>
                <a:spcPts val="1200"/>
              </a:spcAft>
              <a:defRPr sz="1600" b="1">
                <a:solidFill>
                  <a:srgbClr val="F3F4F6"/>
                </a:solidFill>
                <a:latin typeface="Outfit"/>
              </a:defRPr>
            </a:pPr>
            <a:r>
              <a:t>Transaction Cost Economics &amp; Contract Design (Williamson, 1985)</a:t>
            </a:r>
          </a:p>
          <a:p>
            <a:pPr>
              <a:spcAft>
                <a:spcPts val="800"/>
              </a:spcAft>
              <a:defRPr sz="1300">
                <a:solidFill>
                  <a:srgbClr val="9CA3AF"/>
                </a:solidFill>
                <a:latin typeface="Plus Jakarta Sans"/>
              </a:defRPr>
            </a:pPr>
            <a:r>
              <a:t>Explores how rigid contractual structures (force majeure, performance bonds, renegotiation triggers) manage transaction costs and risk allocations when decision agency shifts to autonomous algorithms.</a:t>
            </a:r>
          </a:p>
        </p:txBody>
      </p:sp>
      <p:sp>
        <p:nvSpPr>
          <p:cNvPr id="8" name="Rectangle 7"/>
          <p:cNvSpPr/>
          <p:nvPr/>
        </p:nvSpPr>
        <p:spPr>
          <a:xfrm>
            <a:off x="8074152" y="1645920"/>
            <a:ext cx="3419856" cy="429768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783080"/>
            <a:ext cx="3145536" cy="4023360"/>
          </a:xfrm>
          <a:prstGeom prst="rect">
            <a:avLst/>
          </a:prstGeom>
          <a:noFill/>
        </p:spPr>
        <p:txBody>
          <a:bodyPr wrap="square">
            <a:spAutoFit/>
          </a:bodyPr>
          <a:lstStyle/>
          <a:p>
            <a:pPr>
              <a:spcAft>
                <a:spcPts val="200"/>
              </a:spcAft>
              <a:defRPr sz="1200" b="1">
                <a:solidFill>
                  <a:srgbClr val="0EA5E9"/>
                </a:solidFill>
                <a:latin typeface="Outfit"/>
              </a:defRPr>
            </a:pPr>
            <a:r>
              <a:t>PILLAR 3</a:t>
            </a:r>
          </a:p>
          <a:p>
            <a:pPr>
              <a:spcAft>
                <a:spcPts val="1200"/>
              </a:spcAft>
              <a:defRPr sz="1600" b="1">
                <a:solidFill>
                  <a:srgbClr val="F3F4F6"/>
                </a:solidFill>
                <a:latin typeface="Outfit"/>
              </a:defRPr>
            </a:pPr>
            <a:r>
              <a:t>Socio-Technical Systems Theory (Bijker &amp; Law, 1992)</a:t>
            </a:r>
          </a:p>
          <a:p>
            <a:pPr>
              <a:spcAft>
                <a:spcPts val="800"/>
              </a:spcAft>
              <a:defRPr sz="1300">
                <a:solidFill>
                  <a:srgbClr val="9CA3AF"/>
                </a:solidFill>
                <a:latin typeface="Plus Jakarta Sans"/>
              </a:defRPr>
            </a:pPr>
            <a:r>
              <a:t>Posits that technology and social institutions are co-produced. Ensures we do not analyze agentic AI as a simple plug-and-play engineering tool, but as a system integrated with human organizational roles, data infrastructures, and legal regimes.</a:t>
            </a:r>
          </a:p>
        </p:txBody>
      </p:sp>
      <p:sp>
        <p:nvSpPr>
          <p:cNvPr id="10" name="TextBox 9"/>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6 of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Research Design &amp; Methodology</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Sequential mixed-methods research design within a Critical Realist paradigm</a:t>
            </a:r>
          </a:p>
        </p:txBody>
      </p:sp>
      <p:sp>
        <p:nvSpPr>
          <p:cNvPr id="4" name="Rectangle 3"/>
          <p:cNvSpPr/>
          <p:nvPr/>
        </p:nvSpPr>
        <p:spPr>
          <a:xfrm>
            <a:off x="685800" y="1645920"/>
            <a:ext cx="2496312" cy="429768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2313432" cy="4023360"/>
          </a:xfrm>
          <a:prstGeom prst="rect">
            <a:avLst/>
          </a:prstGeom>
          <a:noFill/>
        </p:spPr>
        <p:txBody>
          <a:bodyPr wrap="square">
            <a:spAutoFit/>
          </a:bodyPr>
          <a:lstStyle/>
          <a:p>
            <a:pPr>
              <a:spcAft>
                <a:spcPts val="200"/>
              </a:spcAft>
              <a:defRPr sz="1100" b="1">
                <a:solidFill>
                  <a:srgbClr val="0EA5E9"/>
                </a:solidFill>
                <a:latin typeface="Outfit"/>
              </a:defRPr>
            </a:pPr>
            <a:r>
              <a:t>PHASE 1 (M1-8)</a:t>
            </a:r>
          </a:p>
          <a:p>
            <a:pPr>
              <a:spcAft>
                <a:spcPts val="1200"/>
              </a:spcAft>
              <a:defRPr sz="1400" b="1">
                <a:solidFill>
                  <a:srgbClr val="F3F4F6"/>
                </a:solidFill>
                <a:latin typeface="Outfit"/>
              </a:defRPr>
            </a:pPr>
            <a:r>
              <a:t>Systematic Review (SLR)</a:t>
            </a:r>
          </a:p>
          <a:p>
            <a:pPr>
              <a:defRPr sz="1200">
                <a:solidFill>
                  <a:srgbClr val="9CA3AF"/>
                </a:solidFill>
                <a:latin typeface="Plus Jakarta Sans"/>
              </a:defRPr>
            </a:pPr>
            <a:r>
              <a:t>PRISMA-compliant SLR of AI governance frameworks. Evaluates frameworks against institutional assumptions. Yields 150-250 publications.</a:t>
            </a:r>
          </a:p>
        </p:txBody>
      </p:sp>
      <p:sp>
        <p:nvSpPr>
          <p:cNvPr id="6" name="Rectangle 5"/>
          <p:cNvSpPr/>
          <p:nvPr/>
        </p:nvSpPr>
        <p:spPr>
          <a:xfrm>
            <a:off x="3456432" y="1645920"/>
            <a:ext cx="2496312" cy="429768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47872" y="1783080"/>
            <a:ext cx="2313432" cy="4023360"/>
          </a:xfrm>
          <a:prstGeom prst="rect">
            <a:avLst/>
          </a:prstGeom>
          <a:noFill/>
        </p:spPr>
        <p:txBody>
          <a:bodyPr wrap="square">
            <a:spAutoFit/>
          </a:bodyPr>
          <a:lstStyle/>
          <a:p>
            <a:pPr>
              <a:spcAft>
                <a:spcPts val="200"/>
              </a:spcAft>
              <a:defRPr sz="1100" b="1">
                <a:solidFill>
                  <a:srgbClr val="0EA5E9"/>
                </a:solidFill>
                <a:latin typeface="Outfit"/>
              </a:defRPr>
            </a:pPr>
            <a:r>
              <a:t>PHASE 2 (M7-16)</a:t>
            </a:r>
          </a:p>
          <a:p>
            <a:pPr>
              <a:spcAft>
                <a:spcPts val="1200"/>
              </a:spcAft>
              <a:defRPr sz="1400" b="1">
                <a:solidFill>
                  <a:srgbClr val="F3F4F6"/>
                </a:solidFill>
                <a:latin typeface="Outfit"/>
              </a:defRPr>
            </a:pPr>
            <a:r>
              <a:t>Delphi Panel Consensus</a:t>
            </a:r>
          </a:p>
          <a:p>
            <a:pPr>
              <a:defRPr sz="1200">
                <a:solidFill>
                  <a:srgbClr val="9CA3AF"/>
                </a:solidFill>
                <a:latin typeface="Plus Jakarta Sans"/>
              </a:defRPr>
            </a:pPr>
            <a:r>
              <a:t>3-round Delphi process with 35 experts across MDBs, AI practitioners, policy officials, and governance scholars. Explores requirements for the GRF.</a:t>
            </a:r>
          </a:p>
        </p:txBody>
      </p:sp>
      <p:sp>
        <p:nvSpPr>
          <p:cNvPr id="8" name="Rectangle 7"/>
          <p:cNvSpPr/>
          <p:nvPr/>
        </p:nvSpPr>
        <p:spPr>
          <a:xfrm>
            <a:off x="6227064" y="1645920"/>
            <a:ext cx="2496312" cy="429768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783080"/>
            <a:ext cx="2313432" cy="4023360"/>
          </a:xfrm>
          <a:prstGeom prst="rect">
            <a:avLst/>
          </a:prstGeom>
          <a:noFill/>
        </p:spPr>
        <p:txBody>
          <a:bodyPr wrap="square">
            <a:spAutoFit/>
          </a:bodyPr>
          <a:lstStyle/>
          <a:p>
            <a:pPr>
              <a:spcAft>
                <a:spcPts val="200"/>
              </a:spcAft>
              <a:defRPr sz="1100" b="1">
                <a:solidFill>
                  <a:srgbClr val="0EA5E9"/>
                </a:solidFill>
                <a:latin typeface="Outfit"/>
              </a:defRPr>
            </a:pPr>
            <a:r>
              <a:t>PHASE 3 (M14-24)</a:t>
            </a:r>
          </a:p>
          <a:p>
            <a:pPr>
              <a:spcAft>
                <a:spcPts val="1200"/>
              </a:spcAft>
              <a:defRPr sz="1400" b="1">
                <a:solidFill>
                  <a:srgbClr val="F3F4F6"/>
                </a:solidFill>
                <a:latin typeface="Outfit"/>
              </a:defRPr>
            </a:pPr>
            <a:r>
              <a:t>Four-Country Case Analysis</a:t>
            </a:r>
          </a:p>
          <a:p>
            <a:pPr>
              <a:defRPr sz="1200">
                <a:solidFill>
                  <a:srgbClr val="9CA3AF"/>
                </a:solidFill>
                <a:latin typeface="Plus Jakarta Sans"/>
              </a:defRPr>
            </a:pPr>
            <a:r>
              <a:t>Structured case studies in South Africa, Kenya, Nigeria, and Ghana. Combines document review, 8-10 interviews per country, and scenario simulations.</a:t>
            </a:r>
          </a:p>
        </p:txBody>
      </p:sp>
      <p:sp>
        <p:nvSpPr>
          <p:cNvPr id="10" name="Rectangle 9"/>
          <p:cNvSpPr/>
          <p:nvPr/>
        </p:nvSpPr>
        <p:spPr>
          <a:xfrm>
            <a:off x="8997696" y="1645920"/>
            <a:ext cx="2496312" cy="429768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89136" y="1783080"/>
            <a:ext cx="2313432" cy="4023360"/>
          </a:xfrm>
          <a:prstGeom prst="rect">
            <a:avLst/>
          </a:prstGeom>
          <a:noFill/>
        </p:spPr>
        <p:txBody>
          <a:bodyPr wrap="square">
            <a:spAutoFit/>
          </a:bodyPr>
          <a:lstStyle/>
          <a:p>
            <a:pPr>
              <a:spcAft>
                <a:spcPts val="200"/>
              </a:spcAft>
              <a:defRPr sz="1100" b="1">
                <a:solidFill>
                  <a:srgbClr val="0EA5E9"/>
                </a:solidFill>
                <a:latin typeface="Outfit"/>
              </a:defRPr>
            </a:pPr>
            <a:r>
              <a:t>PHASE 4 (M22-30)</a:t>
            </a:r>
          </a:p>
          <a:p>
            <a:pPr>
              <a:spcAft>
                <a:spcPts val="1200"/>
              </a:spcAft>
              <a:defRPr sz="1400" b="1">
                <a:solidFill>
                  <a:srgbClr val="F3F4F6"/>
                </a:solidFill>
                <a:latin typeface="Outfit"/>
              </a:defRPr>
            </a:pPr>
            <a:r>
              <a:t>GRF Synthesis &amp; Validation</a:t>
            </a:r>
          </a:p>
          <a:p>
            <a:pPr>
              <a:defRPr sz="1200">
                <a:solidFill>
                  <a:srgbClr val="9CA3AF"/>
                </a:solidFill>
                <a:latin typeface="Plus Jakarta Sans"/>
              </a:defRPr>
            </a:pPr>
            <a:r>
              <a:t>Synthesizes SLR, Delphi, and case analysis into the draft GRF. Conducts validation workshops with World Bank and AfDB specialists.</a:t>
            </a:r>
          </a:p>
        </p:txBody>
      </p:sp>
      <p:sp>
        <p:nvSpPr>
          <p:cNvPr id="12" name="TextBox 11"/>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7 of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Case Selection &amp; Scenario Analysis Strategy</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Interrogating governance readiness through comparative structures and simulation scenarios</a:t>
            </a:r>
          </a:p>
        </p:txBody>
      </p:sp>
      <p:sp>
        <p:nvSpPr>
          <p:cNvPr id="4" name="Rectangle 3"/>
          <p:cNvSpPr/>
          <p:nvPr/>
        </p:nvSpPr>
        <p:spPr>
          <a:xfrm>
            <a:off x="685800" y="1645920"/>
            <a:ext cx="5120640" cy="411480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4846320" cy="3840480"/>
          </a:xfrm>
          <a:prstGeom prst="rect">
            <a:avLst/>
          </a:prstGeom>
          <a:noFill/>
        </p:spPr>
        <p:txBody>
          <a:bodyPr wrap="square">
            <a:spAutoFit/>
          </a:bodyPr>
          <a:lstStyle/>
          <a:p>
            <a:pPr>
              <a:spcAft>
                <a:spcPts val="1400"/>
              </a:spcAft>
              <a:defRPr sz="2000" b="1">
                <a:solidFill>
                  <a:srgbClr val="0EA5E9"/>
                </a:solidFill>
                <a:latin typeface="Outfit"/>
              </a:defRPr>
            </a:pPr>
            <a:r>
              <a:t>Country Selection Matrix</a:t>
            </a:r>
          </a:p>
          <a:p>
            <a:pPr>
              <a:defRPr sz="1400" b="1">
                <a:solidFill>
                  <a:srgbClr val="F3F4F6"/>
                </a:solidFill>
                <a:latin typeface="Outfit"/>
              </a:defRPr>
            </a:pPr>
            <a:r>
              <a:t>•  South Africa: </a:t>
            </a:r>
          </a:p>
          <a:p>
            <a:pPr>
              <a:spcAft>
                <a:spcPts val="800"/>
              </a:spcAft>
              <a:defRPr sz="1200">
                <a:solidFill>
                  <a:srgbClr val="9CA3AF"/>
                </a:solidFill>
                <a:latin typeface="Plus Jakarta Sans"/>
              </a:defRPr>
            </a:pPr>
            <a:r>
              <a:t>High PPP maturity / High digital infrastructure</a:t>
            </a:r>
          </a:p>
          <a:p>
            <a:pPr>
              <a:defRPr sz="1400" b="1">
                <a:solidFill>
                  <a:srgbClr val="F3F4F6"/>
                </a:solidFill>
                <a:latin typeface="Outfit"/>
              </a:defRPr>
            </a:pPr>
            <a:r>
              <a:t>•  Kenya: </a:t>
            </a:r>
          </a:p>
          <a:p>
            <a:pPr>
              <a:spcAft>
                <a:spcPts val="800"/>
              </a:spcAft>
              <a:defRPr sz="1200">
                <a:solidFill>
                  <a:srgbClr val="9CA3AF"/>
                </a:solidFill>
                <a:latin typeface="Plus Jakarta Sans"/>
              </a:defRPr>
            </a:pPr>
            <a:r>
              <a:t>High PPP pipeline / Rapid digital technology hub</a:t>
            </a:r>
          </a:p>
          <a:p>
            <a:pPr>
              <a:defRPr sz="1400" b="1">
                <a:solidFill>
                  <a:srgbClr val="F3F4F6"/>
                </a:solidFill>
                <a:latin typeface="Outfit"/>
              </a:defRPr>
            </a:pPr>
            <a:r>
              <a:t>•  Nigeria: </a:t>
            </a:r>
          </a:p>
          <a:p>
            <a:pPr>
              <a:spcAft>
                <a:spcPts val="800"/>
              </a:spcAft>
              <a:defRPr sz="1200">
                <a:solidFill>
                  <a:srgbClr val="9CA3AF"/>
                </a:solidFill>
                <a:latin typeface="Plus Jakarta Sans"/>
              </a:defRPr>
            </a:pPr>
            <a:r>
              <a:t>Medium-High PPP capacity / Variable regulatory enforcement</a:t>
            </a:r>
          </a:p>
          <a:p>
            <a:pPr>
              <a:defRPr sz="1400" b="1">
                <a:solidFill>
                  <a:srgbClr val="F3F4F6"/>
                </a:solidFill>
                <a:latin typeface="Outfit"/>
              </a:defRPr>
            </a:pPr>
            <a:r>
              <a:t>•  Ghana: </a:t>
            </a:r>
          </a:p>
          <a:p>
            <a:pPr>
              <a:spcAft>
                <a:spcPts val="800"/>
              </a:spcAft>
              <a:defRPr sz="1200">
                <a:solidFill>
                  <a:srgbClr val="9CA3AF"/>
                </a:solidFill>
                <a:latin typeface="Plus Jakarta Sans"/>
              </a:defRPr>
            </a:pPr>
            <a:r>
              <a:t>Developing PPP framework / Emerging digital tech environment</a:t>
            </a:r>
          </a:p>
        </p:txBody>
      </p:sp>
      <p:sp>
        <p:nvSpPr>
          <p:cNvPr id="6" name="Rectangle 5"/>
          <p:cNvSpPr/>
          <p:nvPr/>
        </p:nvSpPr>
        <p:spPr>
          <a:xfrm>
            <a:off x="6382512" y="1645920"/>
            <a:ext cx="5120640" cy="4114800"/>
          </a:xfrm>
          <a:prstGeom prst="rect">
            <a:avLst/>
          </a:prstGeom>
          <a:solidFill>
            <a:srgbClr val="181C2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783080"/>
            <a:ext cx="4846320" cy="3840480"/>
          </a:xfrm>
          <a:prstGeom prst="rect">
            <a:avLst/>
          </a:prstGeom>
          <a:noFill/>
        </p:spPr>
        <p:txBody>
          <a:bodyPr wrap="square">
            <a:spAutoFit/>
          </a:bodyPr>
          <a:lstStyle/>
          <a:p>
            <a:pPr>
              <a:spcAft>
                <a:spcPts val="1400"/>
              </a:spcAft>
              <a:defRPr sz="2000" b="1">
                <a:solidFill>
                  <a:srgbClr val="F59E0B"/>
                </a:solidFill>
                <a:latin typeface="Outfit"/>
              </a:defRPr>
            </a:pPr>
            <a:r>
              <a:t>Scenario Simulation Method</a:t>
            </a:r>
          </a:p>
          <a:p>
            <a:pPr>
              <a:spcAft>
                <a:spcPts val="200"/>
              </a:spcAft>
              <a:defRPr sz="1400" b="1">
                <a:solidFill>
                  <a:srgbClr val="F3F4F6"/>
                </a:solidFill>
                <a:latin typeface="Outfit"/>
              </a:defRPr>
            </a:pPr>
            <a:r>
              <a:t>Scenario A: Force Majeure Trigger</a:t>
            </a:r>
          </a:p>
          <a:p>
            <a:pPr>
              <a:spcAft>
                <a:spcPts val="1200"/>
              </a:spcAft>
              <a:defRPr sz="1200">
                <a:solidFill>
                  <a:srgbClr val="9CA3AF"/>
                </a:solidFill>
                <a:latin typeface="Plus Jakarta Sans"/>
              </a:defRPr>
            </a:pPr>
            <a:r>
              <a:t>An agentic site twin autonomously adjusts project schedules and contingency allocations due to 'unforeseen soil shifts', classifying it as force majeure without human approval.</a:t>
            </a:r>
          </a:p>
          <a:p>
            <a:pPr>
              <a:spcAft>
                <a:spcPts val="200"/>
              </a:spcAft>
              <a:defRPr sz="1400" b="1">
                <a:solidFill>
                  <a:srgbClr val="F3F4F6"/>
                </a:solidFill>
                <a:latin typeface="Outfit"/>
              </a:defRPr>
            </a:pPr>
            <a:r>
              <a:t>Scenario B: Algorithmic Collusion</a:t>
            </a:r>
          </a:p>
          <a:p>
            <a:pPr>
              <a:spcAft>
                <a:spcPts val="1200"/>
              </a:spcAft>
              <a:defRPr sz="1200">
                <a:solidFill>
                  <a:srgbClr val="9CA3AF"/>
                </a:solidFill>
                <a:latin typeface="Plus Jakarta Sans"/>
              </a:defRPr>
            </a:pPr>
            <a:r>
              <a:t>An agentic procurement system colludes with materials supplier bots to inflate steel pricing during local shortages, violating public procurement guidelines.</a:t>
            </a:r>
          </a:p>
        </p:txBody>
      </p:sp>
      <p:sp>
        <p:nvSpPr>
          <p:cNvPr id="8" name="TextBox 7"/>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8 of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Expected Contributions &amp; Policy Impact</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Delivering both academic novelty and practical public utility</a:t>
            </a:r>
          </a:p>
        </p:txBody>
      </p:sp>
      <p:sp>
        <p:nvSpPr>
          <p:cNvPr id="4" name="Rectangle 3"/>
          <p:cNvSpPr/>
          <p:nvPr/>
        </p:nvSpPr>
        <p:spPr>
          <a:xfrm>
            <a:off x="685800" y="1645920"/>
            <a:ext cx="5120640" cy="411480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4846320" cy="3840480"/>
          </a:xfrm>
          <a:prstGeom prst="rect">
            <a:avLst/>
          </a:prstGeom>
          <a:noFill/>
        </p:spPr>
        <p:txBody>
          <a:bodyPr wrap="square">
            <a:spAutoFit/>
          </a:bodyPr>
          <a:lstStyle/>
          <a:p>
            <a:pPr>
              <a:spcAft>
                <a:spcPts val="1400"/>
              </a:spcAft>
              <a:defRPr sz="2200" b="1">
                <a:solidFill>
                  <a:srgbClr val="0EA5E9"/>
                </a:solidFill>
                <a:latin typeface="Outfit"/>
              </a:defRPr>
            </a:pPr>
            <a:r>
              <a:t>Academic Value</a:t>
            </a:r>
          </a:p>
          <a:p>
            <a:pPr>
              <a:spcAft>
                <a:spcPts val="1200"/>
              </a:spcAft>
              <a:defRPr sz="1300">
                <a:solidFill>
                  <a:srgbClr val="9CA3AF"/>
                </a:solidFill>
                <a:latin typeface="Plus Jakarta Sans"/>
              </a:defRPr>
            </a:pPr>
            <a:r>
              <a:t>• Theoretical Validation: Provides the first empirical test of the Institutional Alignment Framework in digital project governance.</a:t>
            </a:r>
          </a:p>
          <a:p>
            <a:pPr>
              <a:spcAft>
                <a:spcPts val="1200"/>
              </a:spcAft>
              <a:defRPr sz="1300">
                <a:solidFill>
                  <a:srgbClr val="9CA3AF"/>
                </a:solidFill>
                <a:latin typeface="Plus Jakarta Sans"/>
              </a:defRPr>
            </a:pPr>
            <a:r>
              <a:t>• Literature Redress: Targets the severe geographical underrepresentation of Sub-Saharan Africa in top-tier construction management databases.</a:t>
            </a:r>
          </a:p>
          <a:p>
            <a:pPr>
              <a:spcAft>
                <a:spcPts val="1200"/>
              </a:spcAft>
              <a:defRPr sz="1300">
                <a:solidFill>
                  <a:srgbClr val="9CA3AF"/>
                </a:solidFill>
                <a:latin typeface="Plus Jakarta Sans"/>
              </a:defRPr>
            </a:pPr>
            <a:r>
              <a:t>• Conceptual Shift: Moves construction AI research past simple optimization algorithms to structural governance and liability models.</a:t>
            </a:r>
          </a:p>
        </p:txBody>
      </p:sp>
      <p:sp>
        <p:nvSpPr>
          <p:cNvPr id="6" name="Rectangle 5"/>
          <p:cNvSpPr/>
          <p:nvPr/>
        </p:nvSpPr>
        <p:spPr>
          <a:xfrm>
            <a:off x="6382512" y="1645920"/>
            <a:ext cx="5120640" cy="4114800"/>
          </a:xfrm>
          <a:prstGeom prst="rect">
            <a:avLst/>
          </a:prstGeom>
          <a:solidFill>
            <a:srgbClr val="181C2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783080"/>
            <a:ext cx="4846320" cy="3840480"/>
          </a:xfrm>
          <a:prstGeom prst="rect">
            <a:avLst/>
          </a:prstGeom>
          <a:noFill/>
        </p:spPr>
        <p:txBody>
          <a:bodyPr wrap="square">
            <a:spAutoFit/>
          </a:bodyPr>
          <a:lstStyle/>
          <a:p>
            <a:pPr>
              <a:spcAft>
                <a:spcPts val="1400"/>
              </a:spcAft>
              <a:defRPr sz="2200" b="1">
                <a:solidFill>
                  <a:srgbClr val="F59E0B"/>
                </a:solidFill>
                <a:latin typeface="Outfit"/>
              </a:defRPr>
            </a:pPr>
            <a:r>
              <a:t>Policy &amp; Practical Impact</a:t>
            </a:r>
          </a:p>
          <a:p>
            <a:pPr>
              <a:spcAft>
                <a:spcPts val="1200"/>
              </a:spcAft>
              <a:defRPr sz="1300">
                <a:solidFill>
                  <a:srgbClr val="F3F4F6"/>
                </a:solidFill>
                <a:latin typeface="Plus Jakarta Sans"/>
              </a:defRPr>
            </a:pPr>
            <a:r>
              <a:t>• The GRF Toolkit: Delivers a multi-level governance readiness assessment instrument applicable at national, institutional, and project levels.</a:t>
            </a:r>
          </a:p>
          <a:p>
            <a:pPr>
              <a:spcAft>
                <a:spcPts val="1200"/>
              </a:spcAft>
              <a:defRPr sz="1300">
                <a:solidFill>
                  <a:srgbClr val="F3F4F6"/>
                </a:solidFill>
                <a:latin typeface="Plus Jakarta Sans"/>
              </a:defRPr>
            </a:pPr>
            <a:r>
              <a:t>• National Policy Briefs: Generates tailored guidelines for National PPP Units and Infrastructure Ministries in all four case countries.</a:t>
            </a:r>
          </a:p>
          <a:p>
            <a:pPr>
              <a:spcAft>
                <a:spcPts val="1200"/>
              </a:spcAft>
              <a:defRPr sz="1300">
                <a:solidFill>
                  <a:srgbClr val="F3F4F6"/>
                </a:solidFill>
                <a:latin typeface="Plus Jakarta Sans"/>
              </a:defRPr>
            </a:pPr>
            <a:r>
              <a:t>• MDB Operational Integration: Feeds directly into infrastructure advisory programs and policy reviews for the World Bank and AfDB.</a:t>
            </a:r>
          </a:p>
        </p:txBody>
      </p:sp>
      <p:sp>
        <p:nvSpPr>
          <p:cNvPr id="8" name="TextBox 7"/>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9 of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685800" y="365760"/>
            <a:ext cx="10820095" cy="731520"/>
          </a:xfrm>
          <a:prstGeom prst="rect">
            <a:avLst/>
          </a:prstGeom>
          <a:noFill/>
        </p:spPr>
        <p:txBody>
          <a:bodyPr wrap="square">
            <a:spAutoFit/>
          </a:bodyPr>
          <a:lstStyle/>
          <a:p>
            <a:pPr>
              <a:defRPr sz="2800" b="1">
                <a:solidFill>
                  <a:srgbClr val="F3F4F6"/>
                </a:solidFill>
                <a:latin typeface="Outfit"/>
              </a:defRPr>
            </a:pPr>
            <a:r>
              <a:t>Timeline, Feasibility &amp; Conclusion</a:t>
            </a:r>
          </a:p>
        </p:txBody>
      </p:sp>
      <p:sp>
        <p:nvSpPr>
          <p:cNvPr id="3" name="TextBox 2"/>
          <p:cNvSpPr txBox="1"/>
          <p:nvPr/>
        </p:nvSpPr>
        <p:spPr>
          <a:xfrm>
            <a:off x="685800" y="1005840"/>
            <a:ext cx="10820095" cy="365760"/>
          </a:xfrm>
          <a:prstGeom prst="rect">
            <a:avLst/>
          </a:prstGeom>
          <a:noFill/>
        </p:spPr>
        <p:txBody>
          <a:bodyPr wrap="square">
            <a:spAutoFit/>
          </a:bodyPr>
          <a:lstStyle/>
          <a:p>
            <a:pPr>
              <a:defRPr sz="1400">
                <a:solidFill>
                  <a:srgbClr val="9CA3AF"/>
                </a:solidFill>
                <a:latin typeface="Plus Jakarta Sans"/>
              </a:defRPr>
            </a:pPr>
            <a:r>
              <a:t>A realistic, risk-mitigated 48-month path to completion</a:t>
            </a:r>
          </a:p>
        </p:txBody>
      </p:sp>
      <p:sp>
        <p:nvSpPr>
          <p:cNvPr id="4" name="Rectangle 3"/>
          <p:cNvSpPr/>
          <p:nvPr/>
        </p:nvSpPr>
        <p:spPr>
          <a:xfrm>
            <a:off x="685800" y="1645920"/>
            <a:ext cx="2496312" cy="310896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2313432" cy="2834640"/>
          </a:xfrm>
          <a:prstGeom prst="rect">
            <a:avLst/>
          </a:prstGeom>
          <a:noFill/>
        </p:spPr>
        <p:txBody>
          <a:bodyPr wrap="square">
            <a:spAutoFit/>
          </a:bodyPr>
          <a:lstStyle/>
          <a:p>
            <a:pPr>
              <a:defRPr sz="1800" b="1">
                <a:solidFill>
                  <a:srgbClr val="0EA5E9"/>
                </a:solidFill>
                <a:latin typeface="Outfit"/>
              </a:defRPr>
            </a:pPr>
            <a:r>
              <a:t>YEAR 1</a:t>
            </a:r>
          </a:p>
          <a:p>
            <a:pPr>
              <a:spcAft>
                <a:spcPts val="1200"/>
              </a:spcAft>
              <a:defRPr sz="1100" b="1">
                <a:solidFill>
                  <a:srgbClr val="F3F4F6"/>
                </a:solidFill>
                <a:latin typeface="Plus Jakarta Sans"/>
              </a:defRPr>
            </a:pPr>
            <a:r>
              <a:t>M1-12</a:t>
            </a:r>
          </a:p>
          <a:p>
            <a:pPr>
              <a:defRPr sz="1200">
                <a:solidFill>
                  <a:srgbClr val="9CA3AF"/>
                </a:solidFill>
                <a:latin typeface="Plus Jakarta Sans"/>
              </a:defRPr>
            </a:pPr>
            <a:r>
              <a:t>Systematic literature review (SLR); IAF theoretical development; Ethical approvals; Delphi design; First paper submitted.</a:t>
            </a:r>
          </a:p>
        </p:txBody>
      </p:sp>
      <p:sp>
        <p:nvSpPr>
          <p:cNvPr id="6" name="Rectangle 5"/>
          <p:cNvSpPr/>
          <p:nvPr/>
        </p:nvSpPr>
        <p:spPr>
          <a:xfrm>
            <a:off x="3456432" y="1645920"/>
            <a:ext cx="2496312" cy="310896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47872" y="1783080"/>
            <a:ext cx="2313432" cy="2834640"/>
          </a:xfrm>
          <a:prstGeom prst="rect">
            <a:avLst/>
          </a:prstGeom>
          <a:noFill/>
        </p:spPr>
        <p:txBody>
          <a:bodyPr wrap="square">
            <a:spAutoFit/>
          </a:bodyPr>
          <a:lstStyle/>
          <a:p>
            <a:pPr>
              <a:defRPr sz="1800" b="1">
                <a:solidFill>
                  <a:srgbClr val="0EA5E9"/>
                </a:solidFill>
                <a:latin typeface="Outfit"/>
              </a:defRPr>
            </a:pPr>
            <a:r>
              <a:t>YEAR 2</a:t>
            </a:r>
          </a:p>
          <a:p>
            <a:pPr>
              <a:spcAft>
                <a:spcPts val="1200"/>
              </a:spcAft>
              <a:defRPr sz="1100" b="1">
                <a:solidFill>
                  <a:srgbClr val="F3F4F6"/>
                </a:solidFill>
                <a:latin typeface="Plus Jakarta Sans"/>
              </a:defRPr>
            </a:pPr>
            <a:r>
              <a:t>M13-24</a:t>
            </a:r>
          </a:p>
          <a:p>
            <a:pPr>
              <a:defRPr sz="1200">
                <a:solidFill>
                  <a:srgbClr val="9CA3AF"/>
                </a:solidFill>
                <a:latin typeface="Plus Jakarta Sans"/>
              </a:defRPr>
            </a:pPr>
            <a:r>
              <a:t>Execution of Delphi rounds 1-3; Nigeria &amp; Kenya case studies; Draft GRF developed; First supervisory milestone review.</a:t>
            </a:r>
          </a:p>
        </p:txBody>
      </p:sp>
      <p:sp>
        <p:nvSpPr>
          <p:cNvPr id="8" name="Rectangle 7"/>
          <p:cNvSpPr/>
          <p:nvPr/>
        </p:nvSpPr>
        <p:spPr>
          <a:xfrm>
            <a:off x="6227064" y="1645920"/>
            <a:ext cx="2496312" cy="310896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783080"/>
            <a:ext cx="2313432" cy="2834640"/>
          </a:xfrm>
          <a:prstGeom prst="rect">
            <a:avLst/>
          </a:prstGeom>
          <a:noFill/>
        </p:spPr>
        <p:txBody>
          <a:bodyPr wrap="square">
            <a:spAutoFit/>
          </a:bodyPr>
          <a:lstStyle/>
          <a:p>
            <a:pPr>
              <a:defRPr sz="1800" b="1">
                <a:solidFill>
                  <a:srgbClr val="0EA5E9"/>
                </a:solidFill>
                <a:latin typeface="Outfit"/>
              </a:defRPr>
            </a:pPr>
            <a:r>
              <a:t>YEAR 3</a:t>
            </a:r>
          </a:p>
          <a:p>
            <a:pPr>
              <a:spcAft>
                <a:spcPts val="1200"/>
              </a:spcAft>
              <a:defRPr sz="1100" b="1">
                <a:solidFill>
                  <a:srgbClr val="F3F4F6"/>
                </a:solidFill>
                <a:latin typeface="Plus Jakarta Sans"/>
              </a:defRPr>
            </a:pPr>
            <a:r>
              <a:t>M25-36</a:t>
            </a:r>
          </a:p>
          <a:p>
            <a:pPr>
              <a:defRPr sz="1200">
                <a:solidFill>
                  <a:srgbClr val="9CA3AF"/>
                </a:solidFill>
                <a:latin typeface="Plus Jakarta Sans"/>
              </a:defRPr>
            </a:pPr>
            <a:r>
              <a:t>Ghana &amp; South Africa case studies; Cross-case comparative matrices; MDB validation workshops; Draft primary thesis.</a:t>
            </a:r>
          </a:p>
        </p:txBody>
      </p:sp>
      <p:sp>
        <p:nvSpPr>
          <p:cNvPr id="10" name="Rectangle 9"/>
          <p:cNvSpPr/>
          <p:nvPr/>
        </p:nvSpPr>
        <p:spPr>
          <a:xfrm>
            <a:off x="8997696" y="1645920"/>
            <a:ext cx="2496312" cy="3108960"/>
          </a:xfrm>
          <a:prstGeom prst="rect">
            <a:avLst/>
          </a:prstGeom>
          <a:solidFill>
            <a:srgbClr val="181C24"/>
          </a:solidFill>
          <a:ln w="19050">
            <a:solidFill>
              <a:srgbClr val="2E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89136" y="1783080"/>
            <a:ext cx="2313432" cy="2834640"/>
          </a:xfrm>
          <a:prstGeom prst="rect">
            <a:avLst/>
          </a:prstGeom>
          <a:noFill/>
        </p:spPr>
        <p:txBody>
          <a:bodyPr wrap="square">
            <a:spAutoFit/>
          </a:bodyPr>
          <a:lstStyle/>
          <a:p>
            <a:pPr>
              <a:defRPr sz="1800" b="1">
                <a:solidFill>
                  <a:srgbClr val="0EA5E9"/>
                </a:solidFill>
                <a:latin typeface="Outfit"/>
              </a:defRPr>
            </a:pPr>
            <a:r>
              <a:t>YEAR 4</a:t>
            </a:r>
          </a:p>
          <a:p>
            <a:pPr>
              <a:spcAft>
                <a:spcPts val="1200"/>
              </a:spcAft>
              <a:defRPr sz="1100" b="1">
                <a:solidFill>
                  <a:srgbClr val="F3F4F6"/>
                </a:solidFill>
                <a:latin typeface="Plus Jakarta Sans"/>
              </a:defRPr>
            </a:pPr>
            <a:r>
              <a:t>M37-48</a:t>
            </a:r>
          </a:p>
          <a:p>
            <a:pPr>
              <a:defRPr sz="1200">
                <a:solidFill>
                  <a:srgbClr val="9CA3AF"/>
                </a:solidFill>
                <a:latin typeface="Plus Jakarta Sans"/>
              </a:defRPr>
            </a:pPr>
            <a:r>
              <a:t>Thesis finalization &amp; viva preparation; Corrections; Policy brief dissemination to national PPP units.</a:t>
            </a:r>
          </a:p>
        </p:txBody>
      </p:sp>
      <p:sp>
        <p:nvSpPr>
          <p:cNvPr id="12" name="Rectangle 11"/>
          <p:cNvSpPr/>
          <p:nvPr/>
        </p:nvSpPr>
        <p:spPr>
          <a:xfrm>
            <a:off x="685800" y="4937760"/>
            <a:ext cx="10820095" cy="822960"/>
          </a:xfrm>
          <a:prstGeom prst="rect">
            <a:avLst/>
          </a:prstGeom>
          <a:solidFill>
            <a:srgbClr val="181C24"/>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029200"/>
            <a:ext cx="10545775" cy="640080"/>
          </a:xfrm>
          <a:prstGeom prst="rect">
            <a:avLst/>
          </a:prstGeom>
          <a:noFill/>
        </p:spPr>
        <p:txBody>
          <a:bodyPr wrap="square">
            <a:spAutoFit/>
          </a:bodyPr>
          <a:lstStyle/>
          <a:p>
            <a:pPr>
              <a:defRPr sz="1200" b="1">
                <a:solidFill>
                  <a:srgbClr val="0EA5E9"/>
                </a:solidFill>
                <a:latin typeface="Plus Jakarta Sans"/>
              </a:defRPr>
            </a:pPr>
            <a:r>
              <a:t>FEASIBILITY ADVANTAGE: Direct stakeholder access channels to MDB networks and national PPP units are already established through 12 years of previous advisory collaborations (A2F Consulting, Ginger Sofreco, Miundo Misingi Hub).</a:t>
            </a:r>
          </a:p>
        </p:txBody>
      </p:sp>
      <p:sp>
        <p:nvSpPr>
          <p:cNvPr id="14" name="TextBox 13"/>
          <p:cNvSpPr txBox="1"/>
          <p:nvPr/>
        </p:nvSpPr>
        <p:spPr>
          <a:xfrm>
            <a:off x="685800" y="6309360"/>
            <a:ext cx="10820095" cy="365760"/>
          </a:xfrm>
          <a:prstGeom prst="rect">
            <a:avLst/>
          </a:prstGeom>
          <a:noFill/>
        </p:spPr>
        <p:txBody>
          <a:bodyPr wrap="none">
            <a:spAutoFit/>
          </a:bodyPr>
          <a:lstStyle/>
          <a:p>
            <a:pPr algn="l">
              <a:defRPr sz="1000">
                <a:solidFill>
                  <a:srgbClr val="9CA3AF"/>
                </a:solidFill>
                <a:latin typeface="Plus Jakarta Sans"/>
              </a:defRPr>
            </a:pPr>
            <a:r>
              <a:t>Arthur, N.U. | UCL Bartlett PhD Proposal  |  Slide 10 of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